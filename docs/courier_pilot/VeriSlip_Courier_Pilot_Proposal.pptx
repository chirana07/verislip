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2c6510a26464b" /><Relationship Type="http://schemas.openxmlformats.org/officeDocument/2006/relationships/extended-properties" Target="/docProps/app.xml" Id="R3b92c0a2a22c4ff9" /><Relationship Type="http://schemas.openxmlformats.org/officeDocument/2006/relationships/officeDocument" Target="/ppt/presentation.xml" Id="Rd95d190099dd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7a56bf26d4293"/>
  </p:sldMasterIdLst>
  <p:notesMasterIdLst>
    <p:notesMasterId xmlns:r="http://schemas.openxmlformats.org/officeDocument/2006/relationships" r:id="R835417c1419546c5"/>
  </p:notesMasterIdLst>
  <p:sldIdLst>
    <p:sldId xmlns:r="http://schemas.openxmlformats.org/officeDocument/2006/relationships" id="256" r:id="R6db2472082dc4730"/>
    <p:sldId xmlns:r="http://schemas.openxmlformats.org/officeDocument/2006/relationships" id="257" r:id="R16da3724e88a41bd"/>
    <p:sldId xmlns:r="http://schemas.openxmlformats.org/officeDocument/2006/relationships" id="258" r:id="R8a39f8d95be04af5"/>
    <p:sldId xmlns:r="http://schemas.openxmlformats.org/officeDocument/2006/relationships" id="259" r:id="R8c781bbe21844881"/>
    <p:sldId xmlns:r="http://schemas.openxmlformats.org/officeDocument/2006/relationships" id="260" r:id="R2024eca7167f4472"/>
    <p:sldId xmlns:r="http://schemas.openxmlformats.org/officeDocument/2006/relationships" id="261" r:id="R53bda360bc8c40e1"/>
    <p:sldId xmlns:r="http://schemas.openxmlformats.org/officeDocument/2006/relationships" id="262" r:id="R3299f1d308264831"/>
    <p:sldId xmlns:r="http://schemas.openxmlformats.org/officeDocument/2006/relationships" id="263" r:id="Rab49555ee17e4925"/>
    <p:sldId xmlns:r="http://schemas.openxmlformats.org/officeDocument/2006/relationships" id="264" r:id="R0b0ddd59426743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015a04d644d3f" /><Relationship Type="http://schemas.openxmlformats.org/officeDocument/2006/relationships/slideMaster" Target="/ppt/slideMasters/slideMaster1.xml" Id="Ra407a56bf26d4293" /><Relationship Type="http://schemas.openxmlformats.org/officeDocument/2006/relationships/notesMaster" Target="/ppt/notesMasters/notesMaster1.xml" Id="R835417c1419546c5" /><Relationship Type="http://schemas.openxmlformats.org/officeDocument/2006/relationships/presProps" Target="/ppt/presProps.xml" Id="R3927db8cd3fe45a1" /><Relationship Type="http://schemas.openxmlformats.org/officeDocument/2006/relationships/tableStyles" Target="/ppt/tableStyles.xml" Id="R2cb27dbe31ca4adb" /><Relationship Type="http://schemas.openxmlformats.org/officeDocument/2006/relationships/slide" Target="/ppt/slides/slide1.xml" Id="R6db2472082dc4730" /><Relationship Type="http://schemas.openxmlformats.org/officeDocument/2006/relationships/slide" Target="/ppt/slides/slide2.xml" Id="R16da3724e88a41bd" /><Relationship Type="http://schemas.openxmlformats.org/officeDocument/2006/relationships/slide" Target="/ppt/slides/slide3.xml" Id="R8a39f8d95be04af5" /><Relationship Type="http://schemas.openxmlformats.org/officeDocument/2006/relationships/slide" Target="/ppt/slides/slide4.xml" Id="R8c781bbe21844881" /><Relationship Type="http://schemas.openxmlformats.org/officeDocument/2006/relationships/slide" Target="/ppt/slides/slide5.xml" Id="R2024eca7167f4472" /><Relationship Type="http://schemas.openxmlformats.org/officeDocument/2006/relationships/slide" Target="/ppt/slides/slide6.xml" Id="R53bda360bc8c40e1" /><Relationship Type="http://schemas.openxmlformats.org/officeDocument/2006/relationships/slide" Target="/ppt/slides/slide7.xml" Id="R3299f1d308264831" /><Relationship Type="http://schemas.openxmlformats.org/officeDocument/2006/relationships/slide" Target="/ppt/slides/slide8.xml" Id="Rab49555ee17e4925" /><Relationship Type="http://schemas.openxmlformats.org/officeDocument/2006/relationships/slide" Target="/ppt/slides/slide9.xml" Id="R0b0ddd59426743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11faaf69a45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d0d085403484d" /><Relationship Type="http://schemas.openxmlformats.org/officeDocument/2006/relationships/notesMaster" Target="/ppt/notesMasters/notesMaster1.xml" Id="R9f5e87206869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90d75cef584b82" /><Relationship Type="http://schemas.openxmlformats.org/officeDocument/2006/relationships/notesMaster" Target="/ppt/notesMasters/notesMaster1.xml" Id="R29e56d4b99af41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65fe5dbfd4746" /><Relationship Type="http://schemas.openxmlformats.org/officeDocument/2006/relationships/notesMaster" Target="/ppt/notesMasters/notesMaster1.xml" Id="R21ccb2ad4da3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658d5ce9e4864" /><Relationship Type="http://schemas.openxmlformats.org/officeDocument/2006/relationships/notesMaster" Target="/ppt/notesMasters/notesMaster1.xml" Id="Rebeedc77a0ce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e2b113d344cad" /><Relationship Type="http://schemas.openxmlformats.org/officeDocument/2006/relationships/notesMaster" Target="/ppt/notesMasters/notesMaster1.xml" Id="R96d07714e7e0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14270d2d354df1" /><Relationship Type="http://schemas.openxmlformats.org/officeDocument/2006/relationships/notesMaster" Target="/ppt/notesMasters/notesMaster1.xml" Id="R7d485192497648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4f20d782f64380" /><Relationship Type="http://schemas.openxmlformats.org/officeDocument/2006/relationships/notesMaster" Target="/ppt/notesMasters/notesMaster1.xml" Id="Reaa919be6dbf4e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696a753414a2e" /><Relationship Type="http://schemas.openxmlformats.org/officeDocument/2006/relationships/notesMaster" Target="/ppt/notesMasters/notesMaster1.xml" Id="R1a61ba652bcb4a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3fda3d9fe24dae" /><Relationship Type="http://schemas.openxmlformats.org/officeDocument/2006/relationships/notesMaster" Target="/ppt/notesMasters/notesMaster1.xml" Id="Rd80e357ac0fe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VeriSlip repository implementation and courier pilot proposal. Any ROI values must come from operator-supplied, validated assumptions. No partnership or measured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9f2545de841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03e0808fd46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8889037d741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b7c8d43da44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7a201200c4a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22235188c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636477-C96A-4CAD-8746-DD742DBA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BF5861-B14E-488C-8985-E64C044B8D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F34215-D559-44D4-BD74-B9FC4225F2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D1CAA8-BA9A-4784-9CCD-B83B7035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2927E4-253D-4574-A326-23AB96CD5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C4ADD38-EE8E-4318-88D0-CFEC53E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C2A251-7EA6-4702-B0E9-90276A6E2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1F026D-5AA2-4A62-A359-A1EDAC0097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262A2E-6954-4303-BAAD-5EFFE85D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913E5D-F113-4B30-BD27-49879B366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4B81A3-DB85-4E97-BF6B-882047731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6FD4BD-DDD5-424F-A121-81AE453CAC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9CB198-4979-4B2E-9F96-903D5580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1D8023-3D41-4532-BFB1-E5D9F34C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F882B4-2837-4004-AD95-BD8F60B6BB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4acdab7ff4009" /><Relationship Type="http://schemas.openxmlformats.org/officeDocument/2006/relationships/slideLayout" Target="/ppt/slideLayouts/slideLayout1.xml" Id="R65a6edcc68444f90" /><Relationship Type="http://schemas.openxmlformats.org/officeDocument/2006/relationships/slideLayout" Target="/ppt/slideLayouts/slideLayout2.xml" Id="R2cb281395e904b16" /><Relationship Type="http://schemas.openxmlformats.org/officeDocument/2006/relationships/slideLayout" Target="/ppt/slideLayouts/slideLayout3.xml" Id="R746d1368168349e4" /><Relationship Type="http://schemas.openxmlformats.org/officeDocument/2006/relationships/slideLayout" Target="/ppt/slideLayouts/slideLayout4.xml" Id="R1d99bc8d09644d75" /><Relationship Type="http://schemas.openxmlformats.org/officeDocument/2006/relationships/slideLayout" Target="/ppt/slideLayouts/slideLayout5.xml" Id="R0fcc3d829d344ce5" /><Relationship Type="http://schemas.openxmlformats.org/officeDocument/2006/relationships/slideLayout" Target="/ppt/slideLayouts/slideLayout6.xml" Id="Rf853848c02184d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6edcc68444f90"/>
    <p:sldLayoutId xmlns:r="http://schemas.openxmlformats.org/officeDocument/2006/relationships" id="2147483650" r:id="R2cb281395e904b16"/>
    <p:sldLayoutId xmlns:r="http://schemas.openxmlformats.org/officeDocument/2006/relationships" id="2147483651" r:id="R746d1368168349e4"/>
    <p:sldLayoutId xmlns:r="http://schemas.openxmlformats.org/officeDocument/2006/relationships" id="2147483652" r:id="R1d99bc8d09644d75"/>
    <p:sldLayoutId xmlns:r="http://schemas.openxmlformats.org/officeDocument/2006/relationships" id="2147483653" r:id="R0fcc3d829d344ce5"/>
    <p:sldLayoutId xmlns:r="http://schemas.openxmlformats.org/officeDocument/2006/relationships" id="2147483654" r:id="Rf853848c02184d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8268cb4404370" /><Relationship Type="http://schemas.openxmlformats.org/officeDocument/2006/relationships/notesSlide" Target="/ppt/notesSlides/notesSlide1.xml" Id="R67e6f29d7def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5f9431718483e" /><Relationship Type="http://schemas.openxmlformats.org/officeDocument/2006/relationships/notesSlide" Target="/ppt/notesSlides/notesSlide2.xml" Id="Rdab0a588bcd048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f62114e604716" /><Relationship Type="http://schemas.openxmlformats.org/officeDocument/2006/relationships/notesSlide" Target="/ppt/notesSlides/notesSlide3.xml" Id="R2aee30e89e7c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90fadbc9c4134" /><Relationship Type="http://schemas.openxmlformats.org/officeDocument/2006/relationships/notesSlide" Target="/ppt/notesSlides/notesSlide4.xml" Id="R9050a054aeda4a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c192e67c04032" /><Relationship Type="http://schemas.openxmlformats.org/officeDocument/2006/relationships/notesSlide" Target="/ppt/notesSlides/notesSlide5.xml" Id="R7ae9320276a8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22719be424660" /><Relationship Type="http://schemas.openxmlformats.org/officeDocument/2006/relationships/notesSlide" Target="/ppt/notesSlides/notesSlide6.xml" Id="R38b48e300313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1f5bd14a2479f" /><Relationship Type="http://schemas.openxmlformats.org/officeDocument/2006/relationships/notesSlide" Target="/ppt/notesSlides/notesSlide7.xml" Id="R34ea66b9d5ec4d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fb728c7df44d4" /><Relationship Type="http://schemas.openxmlformats.org/officeDocument/2006/relationships/notesSlide" Target="/ppt/notesSlides/notesSlide8.xml" Id="Rc2b8a7407b2042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976fe2dad446a" /><Relationship Type="http://schemas.openxmlformats.org/officeDocument/2006/relationships/notesSlide" Target="/ppt/notesSlides/notesSlide9.xml" Id="R450d6a0bab5446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37A31-F2E3-4878-8AA7-165337F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VeriSlip courier payment-proof screening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BFE7D-2E3E-4359-A7E6-3132A45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9EAF7"/>
                </a:solidFill>
                <a:latin typeface="Bitstream Charter"/>
                <a:ea typeface="Bitstream Charter"/>
                <a:cs typeface="Bitstream Charter"/>
              </a:rPr>
              <a:t>Pilot proposal for Sri Lankan courier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C3FF8-8F38-482D-A620-FBBBC260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D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8D4E8"/>
                </a:solidFill>
                <a:latin typeface="Bitstream Charter"/>
                <a:ea typeface="Bitstream Charter"/>
                <a:cs typeface="Bitstream Charter"/>
              </a:rPr>
              <a:t>Discussion draft. No partnership, deployment, pricing, or measured ROI is implied</a:t>
            </a:r>
          </a:p>
        </p:txBody>
      </p:sp>
    </p:spTree>
    <p:extLst>
      <p:ext uri="{BB962C8B-B14F-4D97-AF65-F5344CB8AC3E}">
        <p14:creationId xmlns:p14="http://schemas.microsoft.com/office/powerpoint/2010/main" val="1828328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6EF81-CBF5-439B-87A6-7F8A7A8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OPERATING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B3FE-DBE2-434B-974B-449DE4F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handover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DC1F1-96DC-4605-93A9-FD4A5C71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1C562-900F-424E-AA44-96EECDAC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 rider may receive a bank-transfer screenshot while waiting at the delivery point. The operator needs a consistent instruction without treating an image score as proof that funds settled.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B80F-DC0D-4A81-BE3A-1955D6C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971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VeriSlip screens the proof and returns a compact rider action. Bank-app confirmation and cashier escalation remain authoritative.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4B57-56D1-4B81-8B63-276F4F7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Pilot question: can the screening step improve intervention quality without creating unsafe handovers or unacceptable operational delay?</a:t>
            </a:r>
          </a:p>
        </p:txBody>
      </p:sp>
    </p:spTree>
    <p:extLst>
      <p:ext uri="{BB962C8B-B14F-4D97-AF65-F5344CB8AC3E}">
        <p14:creationId xmlns:p14="http://schemas.microsoft.com/office/powerpoint/2010/main" val="222735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8A359-9BED-4CC5-BEED-2DD8610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IMPLEMENTED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A8F3-8765-4F63-A9B5-83FFA6F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Current courier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29306-CD38-4B5D-953E-5D3A78E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B42A0-EFC9-4B57-B3D6-935802D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POST /api/v1/courier/verify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0B641-8FB2-43E6-B58B-82FC7D6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Request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waybill_id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expected_cod_amount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slip_base64 (JPEG or PNG)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target_bank (optional)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57A1C-BDA0-4207-8F32-67D6083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Response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can_handover_package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rider_action and cashier alert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risk level and percentage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amount comparison and timestamp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71EE-1184-4478-8415-9F4CEB01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Shared image sanitization, API-key authentication, tiered rate limits, structured logs, and correlation IDs apply.</a:t>
            </a:r>
          </a:p>
        </p:txBody>
      </p:sp>
    </p:spTree>
    <p:extLst>
      <p:ext uri="{BB962C8B-B14F-4D97-AF65-F5344CB8AC3E}">
        <p14:creationId xmlns:p14="http://schemas.microsoft.com/office/powerpoint/2010/main" val="1701577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2CD9D-76A8-4080-9D42-B114900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PILOT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32FF5-B293-4FA2-BD1C-BAE4C55A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Proposed request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1230-39FB-4109-BD43-785CC7F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6C727-8CAF-4262-813A-7367159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1  Rider captures or selects the payment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0AE96-FD17-460F-8693-D0FFC5E1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2  Courier app submits the waybill, expected amount, and sanitized image payload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46B24-BE00-40E9-92E3-69D4A67A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3  VeriSlip returns handover, block, or cashier escalation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335F-CD0D-44DD-999F-9BF5253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4  Operator policy and independent payment confirmation determine the final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F8FFB-7A95-4A2E-AE1E-9D4223B4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Start in shadow mode before assisted decisions.</a:t>
            </a:r>
          </a:p>
        </p:txBody>
      </p:sp>
    </p:spTree>
    <p:extLst>
      <p:ext uri="{BB962C8B-B14F-4D97-AF65-F5344CB8AC3E}">
        <p14:creationId xmlns:p14="http://schemas.microsoft.com/office/powerpoint/2010/main" val="62349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D982-D4C3-499E-8CFF-5C046545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SCOPE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DA1E-B693-4F71-AF84-BB7EDE93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Limited pilot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23C67-AFC1-41C0-8C23-A40507B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3B7B8-7598-4A1A-B71B-FE7F54C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Operator-defined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CC772-523E-48AB-93E9-4ED134E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476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One depot or route group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Named rider cohort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Agreed duration and transaction cap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Supported banks and support 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9A5AB-95DA-4E7B-894A-06456CE6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Safety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A5614-075F-4674-99B5-E2FC4603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Shadow review before assisted use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Cashier escalation for blocked or inconclusive cases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Outage fallback to existing policy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Pre-agreed pause and termination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C0AC1-2527-4A04-930A-83BCDEA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The operator approves thresholds before observing pilot outcomes.</a:t>
            </a:r>
          </a:p>
        </p:txBody>
      </p:sp>
    </p:spTree>
    <p:extLst>
      <p:ext uri="{BB962C8B-B14F-4D97-AF65-F5344CB8AC3E}">
        <p14:creationId xmlns:p14="http://schemas.microsoft.com/office/powerpoint/2010/main" val="1733289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89D40-37ED-4015-A77C-5DF9E36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9AD98-11EB-41CB-8F89-DAF08AD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Measurement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0BAB-532B-4255-8817-F6DA519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0FB27-91F6-457C-910C-94C05BC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Operational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0CED-1AF6-484E-A86F-814A6E99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Eligible requests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Completed screens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Latency and technical failures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Rider completion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1298D-2934-4F04-9C1A-2E2E4656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C9615-E8BB-490C-8575-E99001A8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Escalation rate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Amount mismatches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Confirmed false positives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Confirmed false negatives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43DAA-31B6-4204-8B45-C536132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B5221-E6AF-46AE-9C77-E0CBB13F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Confirmed fraud attempts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Average affected order value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Intervention effectiveness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Pilot and operating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19821-E7A0-4C7F-9FF2-DCDB931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Keep unconfirmed outcomes separate. Do not convert screening scores into claimed savings.</a:t>
            </a:r>
          </a:p>
        </p:txBody>
      </p:sp>
    </p:spTree>
    <p:extLst>
      <p:ext uri="{BB962C8B-B14F-4D97-AF65-F5344CB8AC3E}">
        <p14:creationId xmlns:p14="http://schemas.microsoft.com/office/powerpoint/2010/main" val="535981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89ABE-131E-4BC6-8395-D821751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OPERATOR-SUPPLIED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27349-4ADD-4823-A58F-EA8CF46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Transparent ROI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28C9-404D-46E0-B134-5D651EF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1EF65-5599-402A-A833-79D98F02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Estimated avoided loss (LKR)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1C22B-4B58-4581-8395-E4558A6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71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eligible transactions</a:t>
            </a:r>
          </a:p>
          <a:p xmlns:a="http://schemas.openxmlformats.org/drawingml/2006/main">
            <a:pPr>
              <a:def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× confirmed fraud-attempt rate</a:t>
            </a:r>
          </a:p>
          <a:p xmlns:a="http://schemas.openxmlformats.org/drawingml/2006/main">
            <a:pPr>
              <a:def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× average fraudulent order value (LKR)</a:t>
            </a:r>
          </a:p>
          <a:p xmlns:a="http://schemas.openxmlformats.org/drawingml/2006/main">
            <a:pPr>
              <a:def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× measured intervention effectiveness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7FBF7-8BF5-465E-9996-F427BB6C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Run low, expected, and high cases. Keep inputs visible. Subtract implementation and operating costs separately for net benefit.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DC265-0BFD-4EEB-9A2F-A18BEA14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No market rates, pricing, savings, or operator performance figures are asserted in this deck.</a:t>
            </a:r>
          </a:p>
        </p:txBody>
      </p:sp>
    </p:spTree>
    <p:extLst>
      <p:ext uri="{BB962C8B-B14F-4D97-AF65-F5344CB8AC3E}">
        <p14:creationId xmlns:p14="http://schemas.microsoft.com/office/powerpoint/2010/main" val="960446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5B63-320C-47EA-ABDD-2721FBEA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PRODUCTION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0988E-C583-4B95-981D-3B75B92F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Security and deployment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81EAB-E3D0-407C-932C-ED0417D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03698-30EE-4DCD-9BD0-E7D4F1D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Existing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423D-CD67-4251-ABB4-1575CFD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Content-based JPEG/PNG validation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Bounded image size and dimensions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Sanitized in-memory processing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API keys, rate limits, request IDs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Secret-safe structured logging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0328-08D6-4A2C-B7BC-F8D146FB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Operator decisions before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4BBA7-B8D3-42D5-9F58-62FF21F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Data-controller roles and retention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Scoped keys and rotation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Monitoring and incident ownership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Load and resilience testing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Reviewed service and data agreements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3B951-936A-4F39-9E14-4BC98E9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Raw receipts and credentials must never enter analytics, support tickets, or pilot reports.</a:t>
            </a:r>
          </a:p>
        </p:txBody>
      </p:sp>
    </p:spTree>
    <p:extLst>
      <p:ext uri="{BB962C8B-B14F-4D97-AF65-F5344CB8AC3E}">
        <p14:creationId xmlns:p14="http://schemas.microsoft.com/office/powerpoint/2010/main" val="1268159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CB84B-B7BE-43D2-9A4F-62869402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NEXT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DC09-6121-4BAD-9CD0-639CCA0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Pilot decision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B1F7B-A995-46C2-ACEA-4A2E25F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26D82"/>
                </a:solidFill>
                <a:latin typeface="Bitstream Charter"/>
                <a:ea typeface="Bitstream Charter"/>
                <a:cs typeface="Bitstream Charter"/>
              </a:rPr>
              <a:t>VeriSlip courier pilot discussion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0FE9E-7216-47B6-A235-CE1A4608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Use case and baseline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D828F-2CCA-420F-A219-58E5FB59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Confirm the payment flow, eligible orders, current handover policy, baseline volumes, and independently confirmed fraud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565B0-701F-433C-90FC-006C6F8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Technical and operational owners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172A9-1C8D-45DD-A40A-5D8F242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Name API, security, cashier escalation, rider support, and incident owners. Agree availability and fallback procedures.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E4A6A-E22E-492E-9878-222D304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Approval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4303D-03AE-4D18-BA10-C61DD631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rPr>
              <a:t>Approve scope, measurable thresholds, retention, stop rules, and written commercial terms before launch.</a:t>
            </a:r>
          </a:p>
        </p:txBody>
      </p:sp>
    </p:spTree>
    <p:extLst>
      <p:ext uri="{BB962C8B-B14F-4D97-AF65-F5344CB8AC3E}">
        <p14:creationId xmlns:p14="http://schemas.microsoft.com/office/powerpoint/2010/main" val="1465162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2026-10-04T17:19:08.8750000Z</dcterms:created>
  <dcterms:modified xsi:type="dcterms:W3CDTF">2026-10-04T17:19:08.8750000Z</dcterms:modified>
</coreProperties>
</file>